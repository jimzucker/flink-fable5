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Processed msgs/sec at saturation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P=2 (2 KPUs)</c:v>
                </c:pt>
                <c:pt idx="1">
                  <c:v>P=4 (4 KPUs)</c:v>
                </c:pt>
                <c:pt idx="2">
                  <c:v>P=8 (8 KPUs)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16500</c:v>
                </c:pt>
                <c:pt idx="1">
                  <c:v>52000</c:v>
                </c:pt>
                <c:pt idx="2">
                  <c:v>97000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300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B0B0B"/>
                </a:solidFill>
              </a:rPr>
              <a:t>Real-Time Positions &amp; Market Value</a:t>
            </a:r>
          </a:p>
          <a:p>
            <a:r>
              <a:rPr sz="2200">
                <a:solidFill>
                  <a:srgbClr val="52514E"/>
                </a:solidFill>
              </a:rPr>
              <a:t>A streaming trading pipeline on Apache Flink — demo project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14E"/>
                </a:solidFill>
              </a:rPr>
              <a:t>Executive briefing  ·  August 2026</a:t>
            </a:r>
          </a:p>
          <a:p>
            <a:r>
              <a:rPr sz="1500">
                <a:solidFill>
                  <a:srgbClr val="52514E"/>
                </a:solidFill>
              </a:rPr>
              <a:t>Built in one day with Claude Code  ·  github.com/jimzucker/flink-fable5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</a:rP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201168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14E"/>
                </a:solidFill>
              </a:rPr>
              <a:t>From Requirements.txt — a production-shaped proof, not a toy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0B0B0B"/>
                </a:solidFill>
              </a:rPr>
              <a:t>• Consume block trades and ticking prices from Kafka; produce live positions and market values by account and by ticker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0B0B0B"/>
                </a:solidFill>
              </a:rPr>
              <a:t>• Runs on a laptop and deploys to AWS — same application, configuration-only differences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0B0B0B"/>
                </a:solidFill>
              </a:rPr>
              <a:t>• Scales linearly with CPU; scaling controlled by configuration, never a rebuild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0B0B0B"/>
                </a:solidFill>
              </a:rPr>
              <a:t>• Handles duplicates; results deterministic, complete, reproducible — and explainable to the team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0B0B0B"/>
                </a:solidFill>
              </a:rPr>
              <a:t>• Proven under load: 1,000 orders/sec, and extreme price values, without performance 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</a:rPr>
              <a:t>What we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201168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14E"/>
                </a:solidFill>
              </a:rPr>
              <a:t>Deterministic streaming pipeline — every number exact, every operator measured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920240" cy="1371600"/>
          </a:xfrm>
          <a:prstGeom prst="roundRect">
            <a:avLst/>
          </a:prstGeom>
          <a:solidFill>
            <a:srgbClr val="F0EFEC"/>
          </a:solidFill>
          <a:ln w="127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0B0B"/>
                </a:solidFill>
              </a:rPr>
              <a:t>Kafka</a:t>
            </a:r>
          </a:p>
          <a:p>
            <a:pPr algn="ctr"/>
            <a:r>
              <a:rPr sz="1200" b="0">
                <a:solidFill>
                  <a:srgbClr val="0B0B0B"/>
                </a:solidFill>
              </a:rPr>
              <a:t>trades</a:t>
            </a:r>
          </a:p>
          <a:p>
            <a:pPr algn="ctr"/>
            <a:r>
              <a:rPr sz="1200" b="0">
                <a:solidFill>
                  <a:srgbClr val="0B0B0B"/>
                </a:solidFill>
              </a:rPr>
              <a:t>prices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0320" y="2423160"/>
            <a:ext cx="365760" cy="228600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17520" y="1508760"/>
            <a:ext cx="2103120" cy="868680"/>
          </a:xfrm>
          <a:prstGeom prst="roundRect">
            <a:avLst/>
          </a:prstGeom>
          <a:solidFill>
            <a:srgbClr val="F0EFEC"/>
          </a:solidFill>
          <a:ln w="127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0B0B"/>
                </a:solidFill>
              </a:rPr>
              <a:t>Dedup</a:t>
            </a:r>
          </a:p>
          <a:p>
            <a:pPr algn="ctr"/>
            <a:r>
              <a:rPr sz="1200" b="0">
                <a:solidFill>
                  <a:srgbClr val="0B0B0B"/>
                </a:solidFill>
              </a:rPr>
              <a:t>trade-id, state+TTL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606040"/>
            <a:ext cx="2103120" cy="868680"/>
          </a:xfrm>
          <a:prstGeom prst="roundRect">
            <a:avLst/>
          </a:prstGeom>
          <a:solidFill>
            <a:srgbClr val="F0EFEC"/>
          </a:solidFill>
          <a:ln w="127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0B0B"/>
                </a:solidFill>
              </a:rPr>
              <a:t>Exact prices</a:t>
            </a:r>
          </a:p>
          <a:p>
            <a:pPr algn="ctr"/>
            <a:r>
              <a:rPr sz="1200" b="0">
                <a:solidFill>
                  <a:srgbClr val="0B0B0B"/>
                </a:solidFill>
              </a:rPr>
              <a:t>long cents, no floats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12080" y="2423160"/>
            <a:ext cx="365760" cy="228600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0" y="1508760"/>
            <a:ext cx="2286000" cy="868680"/>
          </a:xfrm>
          <a:prstGeom prst="roundRect">
            <a:avLst/>
          </a:prstGeom>
          <a:solidFill>
            <a:srgbClr val="F0EFEC"/>
          </a:solidFill>
          <a:ln w="127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0B0B"/>
                </a:solidFill>
              </a:rPr>
              <a:t>Positions</a:t>
            </a:r>
          </a:p>
          <a:p>
            <a:pPr algn="ctr"/>
            <a:r>
              <a:rPr sz="1200" b="0">
                <a:solidFill>
                  <a:srgbClr val="0B0B0B"/>
                </a:solidFill>
              </a:rPr>
              <a:t>by account+ticker / ticker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2606040"/>
            <a:ext cx="2286000" cy="868680"/>
          </a:xfrm>
          <a:prstGeom prst="roundRect">
            <a:avLst/>
          </a:prstGeom>
          <a:solidFill>
            <a:srgbClr val="F0EFEC"/>
          </a:solidFill>
          <a:ln w="127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0B0B"/>
                </a:solidFill>
              </a:rPr>
              <a:t>Market value</a:t>
            </a:r>
          </a:p>
          <a:p>
            <a:pPr algn="ctr"/>
            <a:r>
              <a:rPr sz="1200" b="0">
                <a:solidFill>
                  <a:srgbClr val="0B0B0B"/>
                </a:solidFill>
              </a:rPr>
              <a:t>position × latest price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046720" y="2423160"/>
            <a:ext cx="365760" cy="228600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03920" y="1828800"/>
            <a:ext cx="1828800" cy="1371600"/>
          </a:xfrm>
          <a:prstGeom prst="roundRect">
            <a:avLst/>
          </a:prstGeom>
          <a:solidFill>
            <a:srgbClr val="F0EFEC"/>
          </a:solidFill>
          <a:ln w="127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0B0B"/>
                </a:solidFill>
              </a:rPr>
              <a:t>4 output</a:t>
            </a:r>
          </a:p>
          <a:p>
            <a:pPr algn="ctr"/>
            <a:r>
              <a:rPr sz="1200" b="0">
                <a:solidFill>
                  <a:srgbClr val="0B0B0B"/>
                </a:solidFill>
              </a:rPr>
              <a:t>streams</a:t>
            </a:r>
          </a:p>
          <a:p>
            <a:pPr algn="ctr"/>
            <a:r>
              <a:rPr sz="1200" b="0">
                <a:solidFill>
                  <a:srgbClr val="0B0B0B"/>
                </a:solidFill>
              </a:rPr>
              <a:t>(Kafka)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3794760"/>
            <a:ext cx="49377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0B0B"/>
                </a:solidFill>
              </a:rPr>
              <a:t>Observability: Prometheus + Grafana, 12 panels</a:t>
            </a:r>
          </a:p>
          <a:p>
            <a:pPr algn="ctr"/>
            <a:r>
              <a:rPr sz="1200" b="0">
                <a:solidFill>
                  <a:srgbClr val="0B0B0B"/>
                </a:solidFill>
              </a:rPr>
              <a:t>records/sec, KB/sec, duplicates, backpressure — per operator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</a:rPr>
              <a:t>• Apache Flink 1.20 (Java 17) — industry-standard stream processing; RocksDB state, checkpointing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</a:rPr>
              <a:t>• All money math exact (long cents + BigDecimal): correct at any price magnitude, by construction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</a:rPr>
              <a:t>• Every behavior is a config knob — rates, parallelism, dedup TTL: zero rebuilds to change anything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</a:rPr>
              <a:t>How it was delivered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201168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14E"/>
                </a:solidFill>
              </a:rPr>
              <a:t>Eight phases — each ended in something reviewable and running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1353312" cy="1463040"/>
          </a:xfrm>
          <a:prstGeom prst="roundRect">
            <a:avLst/>
          </a:prstGeom>
          <a:solidFill>
            <a:srgbClr val="F0EFEC"/>
          </a:solidFill>
          <a:ln w="127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0B0B"/>
                </a:solidFill>
              </a:rPr>
              <a:t>1. Design</a:t>
            </a:r>
          </a:p>
          <a:p>
            <a:pPr algn="ctr"/>
            <a:r>
              <a:rPr sz="900" b="0">
                <a:solidFill>
                  <a:srgbClr val="0B0B0B"/>
                </a:solidFill>
              </a:rPr>
              <a:t>Plan + architecture,</a:t>
            </a:r>
          </a:p>
          <a:p>
            <a:pPr algn="ctr"/>
            <a:r>
              <a:rPr sz="900" b="0">
                <a:solidFill>
                  <a:srgbClr val="0B0B0B"/>
                </a:solidFill>
              </a:rPr>
              <a:t>reviewed 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15084" y="2011680"/>
            <a:ext cx="1353312" cy="1463040"/>
          </a:xfrm>
          <a:prstGeom prst="roundRect">
            <a:avLst/>
          </a:prstGeom>
          <a:solidFill>
            <a:srgbClr val="F0EFEC"/>
          </a:solidFill>
          <a:ln w="127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0B0B"/>
                </a:solidFill>
              </a:rPr>
              <a:t>2. Skeleton</a:t>
            </a:r>
          </a:p>
          <a:p>
            <a:pPr algn="ctr"/>
            <a:r>
              <a:rPr sz="900" b="0">
                <a:solidFill>
                  <a:srgbClr val="0B0B0B"/>
                </a:solidFill>
              </a:rPr>
              <a:t>End-to-end on</a:t>
            </a:r>
          </a:p>
          <a:p>
            <a:pPr algn="ctr"/>
            <a:r>
              <a:rPr sz="900" b="0">
                <a:solidFill>
                  <a:srgbClr val="0B0B0B"/>
                </a:solidFill>
              </a:rPr>
              <a:t>laptop, day 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64408" y="2011680"/>
            <a:ext cx="1353312" cy="1463040"/>
          </a:xfrm>
          <a:prstGeom prst="roundRect">
            <a:avLst/>
          </a:prstGeom>
          <a:solidFill>
            <a:srgbClr val="F0EFEC"/>
          </a:solidFill>
          <a:ln w="127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0B0B"/>
                </a:solidFill>
              </a:rPr>
              <a:t>3. Full calcs</a:t>
            </a:r>
          </a:p>
          <a:p>
            <a:pPr algn="ctr"/>
            <a:r>
              <a:rPr sz="900" b="0">
                <a:solidFill>
                  <a:srgbClr val="0B0B0B"/>
                </a:solidFill>
              </a:rPr>
              <a:t>All 4 outputs +</a:t>
            </a:r>
          </a:p>
          <a:p>
            <a:pPr algn="ctr"/>
            <a:r>
              <a:rPr sz="900" b="0">
                <a:solidFill>
                  <a:srgbClr val="0B0B0B"/>
                </a:solidFill>
              </a:rPr>
              <a:t>dashboard, live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13732" y="2011680"/>
            <a:ext cx="1353312" cy="1463040"/>
          </a:xfrm>
          <a:prstGeom prst="roundRect">
            <a:avLst/>
          </a:prstGeom>
          <a:solidFill>
            <a:srgbClr val="F0EFEC"/>
          </a:solidFill>
          <a:ln w="127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0B0B"/>
                </a:solidFill>
              </a:rPr>
              <a:t>4. Correctness</a:t>
            </a:r>
          </a:p>
          <a:p>
            <a:pPr algn="ctr"/>
            <a:r>
              <a:rPr sz="900" b="0">
                <a:solidFill>
                  <a:srgbClr val="0B0B0B"/>
                </a:solidFill>
              </a:rPr>
              <a:t>18 tests + indep.</a:t>
            </a:r>
          </a:p>
          <a:p>
            <a:pPr algn="ctr"/>
            <a:r>
              <a:rPr sz="900" b="0">
                <a:solidFill>
                  <a:srgbClr val="0B0B0B"/>
                </a:solidFill>
              </a:rPr>
              <a:t>validation, green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2011680"/>
            <a:ext cx="1353312" cy="1463040"/>
          </a:xfrm>
          <a:prstGeom prst="roundRect">
            <a:avLst/>
          </a:prstGeom>
          <a:solidFill>
            <a:srgbClr val="F0EFEC"/>
          </a:solidFill>
          <a:ln w="127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0B0B"/>
                </a:solidFill>
              </a:rPr>
              <a:t>5. AWS IaC</a:t>
            </a:r>
          </a:p>
          <a:p>
            <a:pPr algn="ctr"/>
            <a:r>
              <a:rPr sz="900" b="0">
                <a:solidFill>
                  <a:srgbClr val="0B0B0B"/>
                </a:solidFill>
              </a:rPr>
              <a:t>Terraform validated,</a:t>
            </a:r>
          </a:p>
          <a:p>
            <a:pPr algn="ctr"/>
            <a:r>
              <a:rPr sz="900" b="0">
                <a:solidFill>
                  <a:srgbClr val="0B0B0B"/>
                </a:solidFill>
              </a:rPr>
              <a:t>ready to apply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2379" y="2011680"/>
            <a:ext cx="1353312" cy="1463040"/>
          </a:xfrm>
          <a:prstGeom prst="roundRect">
            <a:avLst/>
          </a:prstGeom>
          <a:solidFill>
            <a:srgbClr val="F0EFEC"/>
          </a:solidFill>
          <a:ln w="127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0B0B"/>
                </a:solidFill>
              </a:rPr>
              <a:t>6. Load tests</a:t>
            </a:r>
          </a:p>
          <a:p>
            <a:pPr algn="ctr"/>
            <a:r>
              <a:rPr sz="900" b="0">
                <a:solidFill>
                  <a:srgbClr val="0B0B0B"/>
                </a:solidFill>
              </a:rPr>
              <a:t>Both perf cases</a:t>
            </a:r>
          </a:p>
          <a:p>
            <a:pPr algn="ctr"/>
            <a:r>
              <a:rPr sz="900" b="0">
                <a:solidFill>
                  <a:srgbClr val="0B0B0B"/>
                </a:solidFill>
              </a:rPr>
              <a:t>passed, measured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61704" y="2011680"/>
            <a:ext cx="135331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0B0B"/>
                </a:solidFill>
              </a:rPr>
              <a:t>7. Review find</a:t>
            </a:r>
          </a:p>
          <a:p>
            <a:pPr algn="ctr"/>
            <a:r>
              <a:rPr sz="900" b="0">
                <a:solidFill>
                  <a:srgbClr val="0B0B0B"/>
                </a:solidFill>
              </a:rPr>
              <a:t>Price-storm flaw:</a:t>
            </a:r>
          </a:p>
          <a:p>
            <a:pPr algn="ctr"/>
            <a:r>
              <a:rPr sz="900" b="0">
                <a:solidFill>
                  <a:srgbClr val="0B0B0B"/>
                </a:solidFill>
              </a:rPr>
              <a:t>proven, fixed, verified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1028" y="2011680"/>
            <a:ext cx="135331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0B0B"/>
                </a:solidFill>
              </a:rPr>
              <a:t>8. AWS proof</a:t>
            </a:r>
          </a:p>
          <a:p>
            <a:pPr algn="ctr"/>
            <a:r>
              <a:rPr sz="900" b="0">
                <a:solidFill>
                  <a:srgbClr val="0B0B0B"/>
                </a:solidFill>
              </a:rPr>
              <a:t>Deployed, all tests</a:t>
            </a:r>
          </a:p>
          <a:p>
            <a:pPr algn="ctr"/>
            <a:r>
              <a:rPr sz="900" b="0">
                <a:solidFill>
                  <a:srgbClr val="0B0B0B"/>
                </a:solidFill>
              </a:rPr>
              <a:t>green, ladder measured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B0B0B"/>
                </a:solidFill>
              </a:rPr>
              <a:t>• Nothing advanced unverified: every phase closed with the system running and measured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0B0B0B"/>
                </a:solidFill>
              </a:rPr>
              <a:t>• Full audit trail in git: one squash commit per phase, tagged Phase-2 … Phase-6, branches preserved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B0B0B"/>
                </a:solidFill>
              </a:rPr>
              <a:t>• Phase 7 was unplanned: a human review comment predicted the price-storm bottleneck — proven, fixed and re-verified the same day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0B0B0B"/>
                </a:solidFill>
              </a:rPr>
              <a:t>• The seven engineering prompts that drove the build are recorded in the repo (prompts/)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</a:rPr>
              <a:t>How we know the numbers are right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201168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14E"/>
                </a:solidFill>
              </a:rPr>
              <a:t>Three independent layers of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B0B0B"/>
                </a:solidFill>
              </a:rPr>
              <a:t>• 18 unit tests against the real operators — including a golden dataset with hand-computed expected results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2514E"/>
                </a:solidFill>
              </a:rPr>
              <a:t>– Duplicate-injection proven: first occurrence wins; replays absorbed silently</a:t>
            </a:r>
          </a:p>
          <a:p>
            <a:pPr lvl="1">
              <a:spcAft>
                <a:spcPts val="1000"/>
              </a:spcAft>
            </a:pPr>
            <a:r>
              <a:rPr sz="1600" b="0">
                <a:solidFill>
                  <a:srgbClr val="52514E"/>
                </a:solidFill>
              </a:rPr>
              <a:t>– Extreme-price test: 999,999 shares × $10 trillion — exact to the last digit, no overflow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0B0B"/>
                </a:solidFill>
              </a:rPr>
              <a:t>• Independent validation: a script re-derives every output from the raw input topics and compares exactly</a:t>
            </a:r>
          </a:p>
          <a:p>
            <a:pPr lvl="1">
              <a:spcAft>
                <a:spcPts val="1000"/>
              </a:spcAft>
            </a:pPr>
            <a:r>
              <a:rPr sz="1600" b="1">
                <a:solidFill>
                  <a:srgbClr val="008300"/>
                </a:solidFill>
              </a:rPr>
              <a:t>– Live run: 20,210 trades, 959 duplicates dropped, all 50 positions and every market value exact to the penny — 6/6 checks PASS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0B0B"/>
                </a:solidFill>
              </a:rPr>
              <a:t>• Completeness invariant holds: per-account positions always sum to the ticker position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0B0B"/>
                </a:solidFill>
              </a:rPr>
              <a:t>• Deterministic: same inputs → identical outputs, proven by test; generator fully seeded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</a:rPr>
              <a:t>Load test results — both required cases pass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201168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14E"/>
                </a:solidFill>
              </a:rPr>
              <a:t>Config-only changes; the application was never rebuilt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651760"/>
                <a:gridCol w="3200400"/>
                <a:gridCol w="29260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T="45720" marB="45720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Baseline (10/sec)</a:t>
                      </a:r>
                    </a:p>
                  </a:txBody>
                  <a:tcPr marT="45720" marB="45720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Case 1: 1,000 orders/sec</a:t>
                      </a:r>
                    </a:p>
                  </a:txBody>
                  <a:tcPr marT="45720" marB="45720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Case 2: $10 trillion price</a:t>
                      </a:r>
                    </a:p>
                  </a:txBody>
                  <a:tcPr marT="45720" marB="45720">
                    <a:solidFill>
                      <a:srgbClr val="2A78D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B0B0B"/>
                          </a:solidFill>
                        </a:rPr>
                        <a:t>Throughput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B0B0B"/>
                          </a:solidFill>
                        </a:rPr>
                        <a:t>10/sec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08300"/>
                          </a:solidFill>
                        </a:rPr>
                        <a:t>sustained 1,000/sec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08300"/>
                          </a:solidFill>
                        </a:rPr>
                        <a:t>sustained 1,000/sec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B0B0B"/>
                          </a:solidFill>
                        </a:rPr>
                        <a:t>CPU (busiest task)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B0B0B"/>
                          </a:solidFill>
                        </a:rPr>
                        <a:t>0.9%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B0B0B"/>
                          </a:solidFill>
                        </a:rPr>
                        <a:t>5.2%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B0B0B"/>
                          </a:solidFill>
                        </a:rPr>
                        <a:t>4.9%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B0B0B"/>
                          </a:solidFill>
                        </a:rPr>
                        <a:t>Backpressure / lag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B0B0B"/>
                          </a:solidFill>
                        </a:rPr>
                        <a:t>none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08300"/>
                          </a:solidFill>
                        </a:rPr>
                        <a:t>none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08300"/>
                          </a:solidFill>
                        </a:rPr>
                        <a:t>none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B0B0B"/>
                          </a:solidFill>
                        </a:rPr>
                        <a:t>Latency (p50)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B0B0B"/>
                          </a:solidFill>
                        </a:rPr>
                        <a:t>100 ms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08300"/>
                          </a:solidFill>
                        </a:rPr>
                        <a:t>96 ms — unchanged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B0B0B"/>
                          </a:solidFill>
                        </a:rPr>
                        <a:t>118 ms — within noise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B0B0B"/>
                          </a:solidFill>
                        </a:rPr>
                        <a:t>Verdict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B0B0B"/>
                          </a:solidFill>
                        </a:rPr>
                        <a:t>reference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08300"/>
                          </a:solidFill>
                        </a:rPr>
                        <a:t>PASS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08300"/>
                          </a:solidFill>
                        </a:rPr>
                        <a:t>PASS — math exact to 19 digits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00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</a:rPr>
              <a:t>• 100× the order rate moved latency not at all — the pipeline runs at ~5% capacity at 1,000/sec (~14× headroom)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</a:rPr>
              <a:t>• Price magnitude is data, not work: the extreme-price case cannot slow the order path by design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8300"/>
                </a:solidFill>
              </a:rPr>
              <a:t>• Review-driven Case 3: 10,000 price ticks/sec saturated the naive design; conflated re-valuation (config: 250 ms) gives 240x less work, zero backpressure, flat order latency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</a:rPr>
              <a:t>Scaling is linear — and configuration-only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201168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14E"/>
                </a:solidFill>
              </a:rPr>
              <a:t>Measured on AWS under sustained overload (Managed Flink KPUs)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45920"/>
          <a:ext cx="60350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0" y="201168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08300"/>
                </a:solidFill>
              </a:rPr>
              <a:t>• Each doubling of parallelism ~doubles throughput — one Terraform variable, zero job restarts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B0B0B"/>
                </a:solidFill>
              </a:rPr>
              <a:t>• Capacity model: ~12k msgs/sec per KPU (~$0.12/hr each)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B0B0B"/>
                </a:solidFill>
              </a:rPr>
              <a:t>• The 110k msgs/sec stress load = a ~P=10 dial setting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B0B0B"/>
                </a:solidFill>
              </a:rPr>
              <a:t>• Next 3-5x identified: binary serialization (Avro) instead of JSON — before buying more KPUs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2514E"/>
                </a:solidFill>
              </a:rPr>
              <a:t>• Laptop result matched: P=1-&gt;2 exactly 2.0x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</a:rPr>
              <a:t>The ladder, as measured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201168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14E"/>
                </a:solidFill>
              </a:rPr>
              <a:t>CloudWatch, per-subtask throughput and saturation — AWS, Managed Flink</a:t>
            </a:r>
          </a:p>
        </p:txBody>
      </p:sp>
      <p:pic>
        <p:nvPicPr>
          <p:cNvPr id="5" name="Picture 4" descr="aws-ladder-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2468880"/>
          </a:xfrm>
          <a:prstGeom prst="rect">
            <a:avLst/>
          </a:prstGeom>
        </p:spPr>
      </p:pic>
      <p:pic>
        <p:nvPicPr>
          <p:cNvPr id="6" name="Picture 5" descr="aws-busy-backpress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11247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</a:rPr>
              <a:t>DataStream API vs Flink SQL — the measured scoreboard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201168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14E"/>
                </a:solidFill>
              </a:rPr>
              <a:t>The axis is the API, not the vendor: SQL was run on BOTH clouds and behaved the same on each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566160"/>
                <a:gridCol w="35661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T="45720" marB="45720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AWS (Managed Flink + MSK)</a:t>
                      </a:r>
                    </a:p>
                  </a:txBody>
                  <a:tcPr marT="45720" marB="45720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Confluent Cloud (Flink SQL)</a:t>
                      </a:r>
                    </a:p>
                  </a:txBody>
                  <a:tcPr marT="45720" marB="45720">
                    <a:solidFill>
                      <a:srgbClr val="2A78D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Correctness - 5 independent checks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All pass, exact to the cent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All pass, exact to the cent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Throughput - DataStream (Java)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146,300 rec/sec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not offered - SQL only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Throughput - the same SQL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76,956 rec/sec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39,400 - 90,600 rec/sec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Run-to-run variance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~25% - gaps below that are noise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~25%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Scaling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bounded by the workload: 10 tickers cap parallelism at 10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pool allowed 20 CFU drew a measured max of 10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Cost (known)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$1.84/hr - 64% of it Kafka, not Flink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compute measured; cluster charge not captured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Partitions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billed: $0.0015/partition-hr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free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Code to build it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~2,000 lines of Java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~200 lines of SQL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Rate-limit an output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one connector option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NOT EXPRESSIBLE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Bad query shapes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silent - found by reading a plan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named in the console with a doc link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4864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8300"/>
                </a:solidFill>
              </a:rPr>
              <a:t>• Java is ~2x faster than SQL on identical hardware, load and logic - that gap is real and outside the noise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8300"/>
                </a:solidFill>
              </a:rPr>
              <a:t>• SQL runs the SAME on both clouds - same speed, same failure to scale. The API is the variable; the vendor is not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0B0B"/>
                </a:solidFill>
              </a:rPr>
              <a:t>• Neither platform was the scaling limit - the business problem has ten symbols, and ten things do not spread across twenty workers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A78D6"/>
                </a:solidFill>
              </a:rPr>
              <a:t>• The deciding factor was not speed: do not update a screen faster than a human can read is one option on AWS SQL and has no construct in Confluent SQL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</a:rPr>
              <a:t>Most of the first numbers were wrong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201168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14E"/>
                </a:solidFill>
              </a:rPr>
              <a:t>Five published conclusions did not survive re-measurement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5029200"/>
                <a:gridCol w="29260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What I published</a:t>
                      </a:r>
                    </a:p>
                  </a:txBody>
                  <a:tcPr marT="45720" marB="45720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What was actually happening</a:t>
                      </a:r>
                    </a:p>
                  </a:txBody>
                  <a:tcPr marT="45720" marB="45720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Corrected</a:t>
                      </a:r>
                    </a:p>
                  </a:txBody>
                  <a:tcPr marT="45720" marB="45720">
                    <a:solidFill>
                      <a:srgbClr val="2A78D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SQL is 124x slower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One SQL statement per Java operator - every stage hopped through Kafka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1.8s, not 26.7s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SQL is 2.69x slower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That run consumed 119k rec/sec and wrote NOTHING for an hour - status green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~2x, output verified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Confluent does not scale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6-bucket tables capped the source at 6 readers - my rig, not the platform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ceiling was mine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Confluent scales 1.5x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Compared runs with different backlog sizes; ramp-up favours the larger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no scaling at all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Every throughput number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Math.min(requested, 30) capped the test data at 30 symbols, not 3,000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re-measured at 3,000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2120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2A78D6"/>
                </a:solidFill>
              </a:rPr>
              <a:t>• Root cause of the worst one: I checked on every test that records went IN. I never checked that records came OUT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0B0B0B"/>
                </a:solidFill>
              </a:rPr>
              <a:t>• A pipeline that reads fast and writes nothing scores beautifully on a throughput metric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08300"/>
                </a:solidFill>
              </a:rPr>
              <a:t>• I published 'it does not scale', corrected it, then corrected the correction - and the ORIGINAL answer was right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B0B0B"/>
                </a:solidFill>
              </a:rPr>
              <a:t>• Benchmarks mostly measure the person running them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</a:rPr>
              <a:t>Fast only counts if the numbers are correct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201168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14E"/>
                </a:solidFill>
              </a:rPr>
              <a:t>Days of throughput figures, and the correctness suite had never once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B0B0B"/>
                </a:solidFill>
              </a:rPr>
              <a:t>• Six independent checks recompute every position and market value from the RAW topics with exact decimal arithmetic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B0B0B"/>
                </a:solidFill>
              </a:rPr>
              <a:t>• Market values asserted against the FINAL RAW price using OUR OWN recomputed position - so a wrong position cannot cancel a wrong price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B0B0B"/>
                </a:solidFill>
              </a:rPr>
              <a:t>• To make failures legible: every trade 1 share, every symbol its own fixed price. A position is then a count you can verify by eye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A78D6"/>
                </a:solidFill>
              </a:rPr>
              <a:t>• It FAILED - 615 market values wrong. They were each priced at a slightly older tick of the RIGHT symbol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8300"/>
                </a:solidFill>
              </a:rPr>
              <a:t>• Rather than wave it away as known semantics, the checker proves it: the implied price must fall inside the range that symbol actually traded at. All 615 did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8300"/>
                </a:solidFill>
              </a:rPr>
              <a:t>• Result: zero wrong answers, plus a 6% staleness characteristic now described honestly instead of hidden behind a green tick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</a:rPr>
              <a:t>What happens on IPO 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201168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14E"/>
                </a:solidFill>
              </a:rPr>
              <a:t>One symbol takes 90% of the tape - measured at the producer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377440"/>
                <a:gridCol w="310896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Feed</a:t>
                      </a:r>
                    </a:p>
                  </a:txBody>
                  <a:tcPr marT="45720" marB="45720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Record key</a:t>
                      </a:r>
                    </a:p>
                  </a:txBody>
                  <a:tcPr marT="45720" marB="45720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Ingest</a:t>
                      </a:r>
                    </a:p>
                  </a:txBody>
                  <a:tcPr marT="45720" marB="45720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Per-symbol ordering</a:t>
                      </a:r>
                    </a:p>
                  </a:txBody>
                  <a:tcPr marT="45720" marB="45720">
                    <a:solidFill>
                      <a:srgbClr val="2A78D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Uniform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symbol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873,333/sec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kept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90% one ticker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symbol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293,333/sec  (-66%)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kept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90% one ticker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salted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764,444/sec  (-12%)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LOST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90% one ticker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adaptive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788,888/sec  (-10%)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kept for quiet names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9377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A78D6"/>
                </a:solidFill>
              </a:rPr>
              <a:t>• A hot listing costs two thirds of ingest BEFORE the stream processor sees a record: every producer queues behind the one broker owning that symbol's partition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</a:rPr>
              <a:t>• Adding producers makes it worse - they contend for the same leader. No downstream tuning can touch this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8300"/>
                </a:solidFill>
              </a:rPr>
              <a:t>• Fix: spread at the KEY, which is upstream of every ceiling. Salt only the hot names so quiet symbols keep ordering and compaction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B0B0B"/>
                </a:solidFill>
              </a:rPr>
              <a:t>• Keying fixes INGEST only. Surviving an IPO needs both: spread at the key AND conflate before the narrow stage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</a:rPr>
              <a:t>Flink SQL did not scale on either cloud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201168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14E"/>
                </a:solidFill>
              </a:rPr>
              <a:t>Same load, same market, one variable: the compute knob doubled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1887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4114800"/>
                <a:gridCol w="2286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T="45720" marB="45720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Knob doubled</a:t>
                      </a:r>
                    </a:p>
                  </a:txBody>
                  <a:tcPr marT="45720" marB="45720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Throughput gained</a:t>
                      </a:r>
                    </a:p>
                  </a:txBody>
                  <a:tcPr marT="45720" marB="45720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 marT="45720" marB="45720">
                    <a:solidFill>
                      <a:srgbClr val="2A78D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DataStream (Java)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parallelism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converts extra hardware into throughput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linear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SQL on AWS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parallelism 20 -&gt; 40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+17% median - INSIDE the +/-25% noise band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+83%</a:t>
                      </a:r>
                    </a:p>
                  </a:txBody>
                  <a:tcPr marT="45720" marB="45720">
                    <a:solidFill>
                      <a:srgbClr val="F0EF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SQL on Confluent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pool cap 10 -&gt; 20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0% - platform kept drawing 10 units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</a:rPr>
                        <a:t>n/a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1206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2A78D6"/>
                </a:solidFill>
              </a:rPr>
              <a:t>• NEITHER scaled. +17% is inside the noise band - not a weaker form of scaling, a number indistinguishable from zero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0B0B0B"/>
                </a:solidFill>
              </a:rPr>
              <a:t>• Threshold was set BEFORE the run: &gt;=1.6x genuine, 1.2-1.6x partial, &lt;1.2x none. Median landed at 1.17x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0B0B0B"/>
                </a:solidFill>
              </a:rPr>
              <a:t>• Extra workers only help if the work can be split - a stock's numbers must be added up in one place, so the new workers idle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08300"/>
                </a:solidFill>
              </a:rPr>
              <a:t>• The Java advantage is not mainly SPEED, it is that Java converts extra hardware into throughput and this SQL does not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08300"/>
                </a:solidFill>
              </a:rPr>
              <a:t>• Speed you can live with. Not being able to grow is a different problem - and invisible if you only test at one size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</a:rPr>
              <a:t>Path to production — AWS ready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201168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14E"/>
                </a:solidFill>
              </a:rPr>
              <a:t>Full infrastructure-as-code, validated; one command to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0B0B0B"/>
                </a:solidFill>
              </a:rPr>
              <a:t>• Terraform stack complete: MSK Serverless (Kafka) + Amazon Managed Service for Apache Flink + generator on Fargate + CloudWatch dashboard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B0B0B"/>
                </a:solidFill>
              </a:rPr>
              <a:t>• The exact same application jar runs on AWS — every environment difference is configuration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B0B0B"/>
                </a:solidFill>
              </a:rPr>
              <a:t>• Security by default: private VPC, IAM auth to Kafka, least-privilege roles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B0B0B"/>
                </a:solidFill>
              </a:rPr>
              <a:t>• Operations runbook: deploy, in-place code update, config-only rescale, teardown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B0B0B"/>
                </a:solidFill>
              </a:rPr>
              <a:t>• Demo cost ≈ $1/hour while running; destroyed when not in use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8300"/>
                </a:solidFill>
              </a:rPr>
              <a:t>• Status: DEPLOYED and load-tested on AWS — all cases green, scaling ladder measured, then torn down cleanly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</a:rPr>
              <a:t>What it took to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201168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14E"/>
                </a:solidFill>
              </a:rPr>
              <a:t>AI-assisted engineering with review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560320" cy="1828800"/>
          </a:xfrm>
          <a:prstGeom prst="roundRect">
            <a:avLst/>
          </a:prstGeom>
          <a:solidFill>
            <a:srgbClr val="F0EFEC"/>
          </a:solidFill>
          <a:ln w="127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2A78D6"/>
                </a:solidFill>
              </a:rPr>
              <a:t>1 day + epilogue</a:t>
            </a:r>
          </a:p>
          <a:p>
            <a:pPr algn="ctr"/>
            <a:r>
              <a:rPr sz="1300">
                <a:solidFill>
                  <a:srgbClr val="52514E"/>
                </a:solidFill>
              </a:rPr>
              <a:t>requirements to a</a:t>
            </a:r>
          </a:p>
          <a:p>
            <a:pPr algn="ctr"/>
            <a:r>
              <a:rPr sz="1300">
                <a:solidFill>
                  <a:srgbClr val="52514E"/>
                </a:solidFill>
              </a:rPr>
              <a:t>two-cloud proof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920240"/>
            <a:ext cx="2560320" cy="1828800"/>
          </a:xfrm>
          <a:prstGeom prst="roundRect">
            <a:avLst/>
          </a:prstGeom>
          <a:solidFill>
            <a:srgbClr val="F0EFEC"/>
          </a:solidFill>
          <a:ln w="127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2A78D6"/>
                </a:solidFill>
              </a:rPr>
              <a:t>9 prompts</a:t>
            </a:r>
          </a:p>
          <a:p>
            <a:pPr algn="ctr"/>
            <a:r>
              <a:rPr sz="1300">
                <a:solidFill>
                  <a:srgbClr val="52514E"/>
                </a:solidFill>
              </a:rPr>
              <a:t>drove all nine</a:t>
            </a:r>
          </a:p>
          <a:p>
            <a:pPr algn="ctr"/>
            <a:r>
              <a:rPr sz="1300">
                <a:solidFill>
                  <a:srgbClr val="52514E"/>
                </a:solidFill>
              </a:rPr>
              <a:t>phases of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2560320" cy="1828800"/>
          </a:xfrm>
          <a:prstGeom prst="roundRect">
            <a:avLst/>
          </a:prstGeom>
          <a:solidFill>
            <a:srgbClr val="F0EFEC"/>
          </a:solidFill>
          <a:ln w="127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2A78D6"/>
                </a:solidFill>
              </a:rPr>
              <a:t>≈ $515</a:t>
            </a:r>
          </a:p>
          <a:p>
            <a:pPr algn="ctr"/>
            <a:r>
              <a:rPr sz="1300">
                <a:solidFill>
                  <a:srgbClr val="52514E"/>
                </a:solidFill>
              </a:rPr>
              <a:t>metered AI compute</a:t>
            </a:r>
          </a:p>
          <a:p>
            <a:pPr algn="ctr"/>
            <a:r>
              <a:rPr sz="1300">
                <a:solidFill>
                  <a:srgbClr val="52514E"/>
                </a:solidFill>
              </a:rPr>
              <a:t>(flat-rate in practice)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920240"/>
            <a:ext cx="2560320" cy="1828800"/>
          </a:xfrm>
          <a:prstGeom prst="roundRect">
            <a:avLst/>
          </a:prstGeom>
          <a:solidFill>
            <a:srgbClr val="F0EFEC"/>
          </a:solidFill>
          <a:ln w="127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2A78D6"/>
                </a:solidFill>
              </a:rPr>
              <a:t>26 finds</a:t>
            </a:r>
          </a:p>
          <a:p>
            <a:pPr algn="ctr"/>
            <a:r>
              <a:rPr sz="1300">
                <a:solidFill>
                  <a:srgbClr val="52514E"/>
                </a:solidFill>
              </a:rPr>
              <a:t>7 bugs, 1 design flaw,</a:t>
            </a:r>
          </a:p>
          <a:p>
            <a:pPr algn="ctr"/>
            <a:r>
              <a:rPr sz="1300">
                <a:solidFill>
                  <a:srgbClr val="52514E"/>
                </a:solidFill>
              </a:rPr>
              <a:t>18 deploy/cleanup gotchas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B0B0B"/>
                </a:solidFill>
              </a:rPr>
              <a:t>• Quality came from the process: plan first, review each outcome, make the system prove itself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0B0B0B"/>
                </a:solidFill>
              </a:rPr>
              <a:t>• Bugs caught included the kind that bite in production: dependency clashes, silent metric mismatches, replay semantics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0B0B0B"/>
                </a:solidFill>
              </a:rPr>
              <a:t>• Every prompt, decision, and result is recorded in the repository — fully auditable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</a:rPr>
              <a:t>Recommendations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201168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0B0B0B"/>
                </a:solidFill>
              </a:rPr>
              <a:t>• Recommend AWS Managed Flink for this product: it is faster, cheaper at equal work, and the only one of the two that can satisfy the output-cadence requirement (CR-1)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0B0B0B"/>
                </a:solidFill>
              </a:rPr>
              <a:t>• Volume and stability proven on both, same method: AWS 757k msgs/sec peak, 28 min at 232,705/sec with deviation of 30; Confluent 386k peak single-statement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0B0B0B"/>
                </a:solidFill>
              </a:rPr>
              <a:t>• Team walkthrough: live dashboard + 'explain the numbers' script are ready (docs/PERF_RESULTS.md)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0B0B0B"/>
                </a:solidFill>
              </a:rPr>
              <a:t>• Candidate hardening for production: schema registry, DLQ for malformed records, autoscaling policy, CI pipeline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0B0B0B"/>
                </a:solidFill>
              </a:rPr>
              <a:t>• Adopt the delivery pattern (phased outcomes + self-verification) for the next AI-assisted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2514E"/>
                </a:solidFill>
              </a:rPr>
              <a:t>Repo: github.com/jimzucker/flink-fable5  ·  All results reproducible: make test · make validate · perf scripts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