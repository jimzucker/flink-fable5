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Processed msgs/sec at saturation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Sheet1!$A$2:$A$4</c:f>
              <c:strCache>
                <c:ptCount val="3"/>
                <c:pt idx="0">
                  <c:v>P=2 (2 KPUs)</c:v>
                </c:pt>
                <c:pt idx="1">
                  <c:v>P=4 (4 KPUs)</c:v>
                </c:pt>
                <c:pt idx="2">
                  <c:v>P=8 (8 KPUs)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16500</c:v>
                </c:pt>
                <c:pt idx="1">
                  <c:v>52000</c:v>
                </c:pt>
                <c:pt idx="2">
                  <c:v>97000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300">
                  <a:solidFill>
                    <a:srgbClr val="0B0B0B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0B0B0B"/>
                </a:solidFill>
              </a:rPr>
              <a:t>Real-Time Positions &amp; Market Value</a:t>
            </a:r>
          </a:p>
          <a:p>
            <a:r>
              <a:rPr sz="2200">
                <a:solidFill>
                  <a:srgbClr val="52514E"/>
                </a:solidFill>
              </a:rPr>
              <a:t>A streaming trading pipeline on Apache Flink — demo project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1206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Executive briefing  ·  August 2026</a:t>
            </a:r>
          </a:p>
          <a:p>
            <a:r>
              <a:rPr sz="1500">
                <a:solidFill>
                  <a:srgbClr val="52514E"/>
                </a:solidFill>
              </a:rPr>
              <a:t>Built in one day with Claude Code  ·  github.com/jimzucker/flink-fable5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The ask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From Requirements.txt — a production-shaped proof, not a toy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0">
                <a:solidFill>
                  <a:srgbClr val="0B0B0B"/>
                </a:solidFill>
              </a:rPr>
              <a:t>• Consume block trades and ticking prices from Kafka; produce live positions and market values by account and by ticker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0B0B0B"/>
                </a:solidFill>
              </a:rPr>
              <a:t>• Runs on a laptop and deploys to AWS — same application, configuration-only differences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0B0B0B"/>
                </a:solidFill>
              </a:rPr>
              <a:t>• Scales linearly with CPU; scaling controlled by configuration, never a rebuild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0B0B0B"/>
                </a:solidFill>
              </a:rPr>
              <a:t>• Handles duplicates; results deterministic, complete, reproducible — and explainable to the team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0B0B0B"/>
                </a:solidFill>
              </a:rPr>
              <a:t>• Proven under load: 1,000 orders/sec, and extreme price values, without performance impact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What we built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Deterministic streaming pipeline — every number exact, every operator measured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1920240" cy="137160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</a:rPr>
              <a:t>Kafka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trades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prices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560320" y="2423160"/>
            <a:ext cx="365760" cy="228600"/>
          </a:xfrm>
          <a:prstGeom prst="rightArrow">
            <a:avLst/>
          </a:prstGeom>
          <a:solidFill>
            <a:srgbClr val="525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017520" y="1508760"/>
            <a:ext cx="2103120" cy="86868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</a:rPr>
              <a:t>Dedup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trade-id, state+TTL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17520" y="2606040"/>
            <a:ext cx="2103120" cy="86868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</a:rPr>
              <a:t>Exact prices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long cents, no floats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212080" y="2423160"/>
            <a:ext cx="365760" cy="228600"/>
          </a:xfrm>
          <a:prstGeom prst="rightArrow">
            <a:avLst/>
          </a:prstGeom>
          <a:solidFill>
            <a:srgbClr val="525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0" y="1508760"/>
            <a:ext cx="2286000" cy="86868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</a:rPr>
              <a:t>Positions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by account+ticker / ticker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0" y="2606040"/>
            <a:ext cx="2286000" cy="86868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</a:rPr>
              <a:t>Market value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position × latest price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8046720" y="2423160"/>
            <a:ext cx="365760" cy="228600"/>
          </a:xfrm>
          <a:prstGeom prst="rightArrow">
            <a:avLst/>
          </a:prstGeom>
          <a:solidFill>
            <a:srgbClr val="525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503920" y="1828800"/>
            <a:ext cx="1828800" cy="137160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</a:rPr>
              <a:t>4 output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streams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(Kafka)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017520" y="3794760"/>
            <a:ext cx="493776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</a:rPr>
              <a:t>Observability: Prometheus + Grafana, 12 panels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records/sec, KB/sec, duplicates, backpressure — per operator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892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0B0B0B"/>
                </a:solidFill>
              </a:rPr>
              <a:t>• Apache Flink 1.20 (Java 17) — industry-standard stream processing; RocksDB state, checkpointing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0B0B0B"/>
                </a:solidFill>
              </a:rPr>
              <a:t>• All money math exact (long cents + BigDecimal): correct at any price magnitude, by construction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0B0B0B"/>
                </a:solidFill>
              </a:rPr>
              <a:t>• Every behavior is a config knob — rates, parallelism, dedup TTL: zero rebuilds to change anything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How it was delivered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Eight phases — each ended in something reviewable and running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2011680"/>
            <a:ext cx="1353312" cy="146304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B0B0B"/>
                </a:solidFill>
              </a:rPr>
              <a:t>1. Design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Plan + architecture,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reviewed first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15084" y="2011680"/>
            <a:ext cx="1353312" cy="146304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B0B0B"/>
                </a:solidFill>
              </a:rPr>
              <a:t>2. Skeleton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End-to-end on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laptop, day one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64408" y="2011680"/>
            <a:ext cx="1353312" cy="146304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B0B0B"/>
                </a:solidFill>
              </a:rPr>
              <a:t>3. Full calcs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All 4 outputs +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dashboard, live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13732" y="2011680"/>
            <a:ext cx="1353312" cy="146304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B0B0B"/>
                </a:solidFill>
              </a:rPr>
              <a:t>4. Correctness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18 tests + indep.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validation, green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63056" y="2011680"/>
            <a:ext cx="1353312" cy="146304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B0B0B"/>
                </a:solidFill>
              </a:rPr>
              <a:t>5. AWS IaC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Terraform validated,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ready to apply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12379" y="2011680"/>
            <a:ext cx="1353312" cy="146304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B0B0B"/>
                </a:solidFill>
              </a:rPr>
              <a:t>6. Load tests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Both perf cases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passed, measured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61704" y="2011680"/>
            <a:ext cx="1353312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B0B0B"/>
                </a:solidFill>
              </a:rPr>
              <a:t>7. Review find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Price-storm flaw: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proven, fixed, verified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11028" y="2011680"/>
            <a:ext cx="1353312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B0B0B"/>
                </a:solidFill>
              </a:rPr>
              <a:t>8. AWS proof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Deployed, all tests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green, ladder measured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2062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>
                <a:solidFill>
                  <a:srgbClr val="0B0B0B"/>
                </a:solidFill>
              </a:rPr>
              <a:t>• Nothing advanced unverified: every phase closed with the system running and measured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0B0B0B"/>
                </a:solidFill>
              </a:rPr>
              <a:t>• Full audit trail in git: one squash commit per phase, tagged Phase-2 … Phase-6, branches preserved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0B0B0B"/>
                </a:solidFill>
              </a:rPr>
              <a:t>• Phase 7 was unplanned: a human review comment predicted the price-storm bottleneck — proven, fixed and re-verified the same day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0B0B0B"/>
                </a:solidFill>
              </a:rPr>
              <a:t>• The seven engineering prompts that drove the build are recorded in the repo (prompts/)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How we know the numbers are right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Three independent layers of proof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0B0B0B"/>
                </a:solidFill>
              </a:rPr>
              <a:t>• 18 unit tests against the real operators — including a golden dataset with hand-computed expected results</a:t>
            </a:r>
          </a:p>
          <a:p>
            <a:pPr lvl="1">
              <a:spcAft>
                <a:spcPts val="1000"/>
              </a:spcAft>
            </a:pPr>
            <a:r>
              <a:rPr sz="1600" b="0">
                <a:solidFill>
                  <a:srgbClr val="52514E"/>
                </a:solidFill>
              </a:rPr>
              <a:t>– Duplicate-injection proven: first occurrence wins; replays absorbed silently</a:t>
            </a:r>
          </a:p>
          <a:p>
            <a:pPr lvl="1">
              <a:spcAft>
                <a:spcPts val="1000"/>
              </a:spcAft>
            </a:pPr>
            <a:r>
              <a:rPr sz="1600" b="0">
                <a:solidFill>
                  <a:srgbClr val="52514E"/>
                </a:solidFill>
              </a:rPr>
              <a:t>– Extreme-price test: 999,999 shares × $10 trillion — exact to the last digit, no overflow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0B0B0B"/>
                </a:solidFill>
              </a:rPr>
              <a:t>• Independent validation: a script re-derives every output from the raw input topics and compares exactly</a:t>
            </a:r>
          </a:p>
          <a:p>
            <a:pPr lvl="1">
              <a:spcAft>
                <a:spcPts val="1000"/>
              </a:spcAft>
            </a:pPr>
            <a:r>
              <a:rPr sz="1600" b="1">
                <a:solidFill>
                  <a:srgbClr val="008300"/>
                </a:solidFill>
              </a:rPr>
              <a:t>– Live run: 20,210 trades, 959 duplicates dropped, all 50 positions and every market value exact to the penny — 6/6 checks PASS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0B0B0B"/>
                </a:solidFill>
              </a:rPr>
              <a:t>• Completeness invariant holds: per-account positions always sum to the ticker position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0B0B0B"/>
                </a:solidFill>
              </a:rPr>
              <a:t>• Deterministic: same inputs → identical outputs, proven by test; generator fully seeded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Load test results — both required cases pass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Config-only changes; the application was never rebuilt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08813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651760"/>
                <a:gridCol w="3200400"/>
                <a:gridCol w="292608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/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Baseline (10/sec)</a:t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Case 1: 1,000 orders/sec</a:t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Case 2: $10 trillion price</a:t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Throughput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10/sec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08300"/>
                          </a:solidFill>
                        </a:rPr>
                        <a:t>sustained 1,000/sec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08300"/>
                          </a:solidFill>
                        </a:rPr>
                        <a:t>sustained 1,000/sec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CPU (busiest task)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0.9%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5.2%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4.9%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Backpressure / lag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none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08300"/>
                          </a:solidFill>
                        </a:rPr>
                        <a:t>none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08300"/>
                          </a:solidFill>
                        </a:rPr>
                        <a:t>none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Latency (p50)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100 ms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08300"/>
                          </a:solidFill>
                        </a:rPr>
                        <a:t>96 ms — unchanged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118 ms — within noise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Verdict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reference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08300"/>
                          </a:solidFill>
                        </a:rPr>
                        <a:t>PASS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08300"/>
                          </a:solidFill>
                        </a:rPr>
                        <a:t>PASS — math exact to 19 digits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80060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0B0B0B"/>
                </a:solidFill>
              </a:rPr>
              <a:t>• 100× the order rate moved latency not at all — the pipeline runs at ~5% capacity at 1,000/sec (~14× headroom)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B0B0B"/>
                </a:solidFill>
              </a:rPr>
              <a:t>• Price magnitude is data, not work: the extreme-price case cannot slow the order path by design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008300"/>
                </a:solidFill>
              </a:rPr>
              <a:t>• Review-driven Case 3: 10,000 price ticks/sec saturated the naive design; conflated re-valuation (config: 250 ms) gives 240x less work, zero backpressure, flat order latency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Scaling is linear — and configuration-only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Measured on AWS under sustained overload (Managed Flink KPUs)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" y="1645920"/>
          <a:ext cx="603504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949440" y="2011680"/>
            <a:ext cx="48463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008300"/>
                </a:solidFill>
              </a:rPr>
              <a:t>• Each doubling of parallelism ~doubles throughput — one Terraform variable, zero job restarts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</a:rPr>
              <a:t>• Capacity model: ~12k msgs/sec per KPU (~$0.12/hr each)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</a:rPr>
              <a:t>• The 110k msgs/sec stress load = a ~P=10 dial setting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</a:rPr>
              <a:t>• Next 3-5x identified: binary serialization (Avro) instead of JSON — before buying more KPUs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52514E"/>
                </a:solidFill>
              </a:rPr>
              <a:t>• Laptop result matched: P=1-&gt;2 exactly 2.0x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The ladder, as measured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CloudWatch, per-subtask throughput and saturation — AWS, Managed Flink</a:t>
            </a:r>
          </a:p>
        </p:txBody>
      </p:sp>
      <p:pic>
        <p:nvPicPr>
          <p:cNvPr id="5" name="Picture 4" descr="aws-ladder-through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11247120" cy="2468880"/>
          </a:xfrm>
          <a:prstGeom prst="rect">
            <a:avLst/>
          </a:prstGeom>
        </p:spPr>
      </p:pic>
      <p:pic>
        <p:nvPicPr>
          <p:cNvPr id="6" name="Picture 5" descr="aws-busy-backpress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4114800"/>
            <a:ext cx="11247120" cy="24688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Day two: same pipeline, second cloud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Rewritten in Flink SQL on Confluent Cloud — judged by the same validation suite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45920"/>
          <a:ext cx="109728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/>
                <a:gridCol w="3474720"/>
                <a:gridCol w="347472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/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AWS (day 1)</a:t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Confluent Cloud (day 2)</a:t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Code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~2,000 lines of Java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~200 lines of SQL (6 statements)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Correctness — 5 independent checks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All pass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All pass — exact to the cent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Top speed measured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110,000 msgs/sec (12 units)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232,000 msgs/sec (16 units)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How you scale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Pick unit count by hand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Autoscales up to a cap you set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Est. monthly cost, normal load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~ $1,070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~ $1,010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Est. monthly cost, peak volume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~ $6,100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~ $4,500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1206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0B0B0B"/>
                </a:solidFill>
              </a:rPr>
              <a:t>• Same topics, same JSON, same generator, same tests - only the engine changed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0B0B0B"/>
                </a:solidFill>
              </a:rPr>
              <a:t>• The validation suite re-derives every number from raw data, so proving a cross-cloud rewrite took an afternoon and ~ $4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008300"/>
                </a:solidFill>
              </a:rPr>
              <a:t>• Price storm result reproduced: 10,000 price updates/sec in, ~10 conflated updates/sec out, trades unaffected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Path to production — AWS ready today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Full infrastructure-as-code, validated; one command to deploy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</a:rPr>
              <a:t>• Terraform stack complete: MSK Serverless (Kafka) + Amazon Managed Service for Apache Flink + generator on Fargate + CloudWatch dashboard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0B0B0B"/>
                </a:solidFill>
              </a:rPr>
              <a:t>• The exact same application jar runs on AWS — every environment difference is configuration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</a:rPr>
              <a:t>• Security by default: private VPC, IAM auth to Kafka, least-privilege roles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</a:rPr>
              <a:t>• Operations runbook: deploy, in-place code update, config-only rescale, teardown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</a:rPr>
              <a:t>• Demo cost ≈ $1/hour while running; destroyed when not in use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008300"/>
                </a:solidFill>
              </a:rPr>
              <a:t>• Status: DEPLOYED and load-tested on AWS — all cases green, scaling ladder measured, then torn down cleanly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What it took to build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AI-assisted engineering with review gates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20240"/>
            <a:ext cx="2560320" cy="182880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400" b="1">
                <a:solidFill>
                  <a:srgbClr val="2A78D6"/>
                </a:solidFill>
              </a:rPr>
              <a:t>1 day + epilogue</a:t>
            </a:r>
          </a:p>
          <a:p>
            <a:pPr algn="ctr"/>
            <a:r>
              <a:rPr sz="1300">
                <a:solidFill>
                  <a:srgbClr val="52514E"/>
                </a:solidFill>
              </a:rPr>
              <a:t>requirements to a</a:t>
            </a:r>
          </a:p>
          <a:p>
            <a:pPr algn="ctr"/>
            <a:r>
              <a:rPr sz="1300">
                <a:solidFill>
                  <a:srgbClr val="52514E"/>
                </a:solidFill>
              </a:rPr>
              <a:t>two-cloud proof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1920240"/>
            <a:ext cx="2560320" cy="182880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400" b="1">
                <a:solidFill>
                  <a:srgbClr val="2A78D6"/>
                </a:solidFill>
              </a:rPr>
              <a:t>9 prompts</a:t>
            </a:r>
          </a:p>
          <a:p>
            <a:pPr algn="ctr"/>
            <a:r>
              <a:rPr sz="1300">
                <a:solidFill>
                  <a:srgbClr val="52514E"/>
                </a:solidFill>
              </a:rPr>
              <a:t>drove all nine</a:t>
            </a:r>
          </a:p>
          <a:p>
            <a:pPr algn="ctr"/>
            <a:r>
              <a:rPr sz="1300">
                <a:solidFill>
                  <a:srgbClr val="52514E"/>
                </a:solidFill>
              </a:rPr>
              <a:t>phases of work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920240"/>
            <a:ext cx="2560320" cy="182880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400" b="1">
                <a:solidFill>
                  <a:srgbClr val="2A78D6"/>
                </a:solidFill>
              </a:rPr>
              <a:t>≈ $515</a:t>
            </a:r>
          </a:p>
          <a:p>
            <a:pPr algn="ctr"/>
            <a:r>
              <a:rPr sz="1300">
                <a:solidFill>
                  <a:srgbClr val="52514E"/>
                </a:solidFill>
              </a:rPr>
              <a:t>metered AI compute</a:t>
            </a:r>
          </a:p>
          <a:p>
            <a:pPr algn="ctr"/>
            <a:r>
              <a:rPr sz="1300">
                <a:solidFill>
                  <a:srgbClr val="52514E"/>
                </a:solidFill>
              </a:rPr>
              <a:t>(flat-rate in practice)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0" y="1920240"/>
            <a:ext cx="2560320" cy="182880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400" b="1">
                <a:solidFill>
                  <a:srgbClr val="2A78D6"/>
                </a:solidFill>
              </a:rPr>
              <a:t>26 finds</a:t>
            </a:r>
          </a:p>
          <a:p>
            <a:pPr algn="ctr"/>
            <a:r>
              <a:rPr sz="1300">
                <a:solidFill>
                  <a:srgbClr val="52514E"/>
                </a:solidFill>
              </a:rPr>
              <a:t>7 bugs, 1 design flaw,</a:t>
            </a:r>
          </a:p>
          <a:p>
            <a:pPr algn="ctr"/>
            <a:r>
              <a:rPr sz="1300">
                <a:solidFill>
                  <a:srgbClr val="52514E"/>
                </a:solidFill>
              </a:rPr>
              <a:t>18 deploy/cleanup gotchas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29768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>
                <a:solidFill>
                  <a:srgbClr val="0B0B0B"/>
                </a:solidFill>
              </a:rPr>
              <a:t>• Quality came from the process: plan first, review each outcome, make the system prove itself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0B0B0B"/>
                </a:solidFill>
              </a:rPr>
              <a:t>• Bugs caught included the kind that bite in production: dependency clashes, silent metric mismatches, replay semantics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0B0B0B"/>
                </a:solidFill>
              </a:rPr>
              <a:t>• Every prompt, decision, and result is recorded in the repository — fully auditable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Recommendations &amp; next steps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1">
                <a:solidFill>
                  <a:srgbClr val="0B0B0B"/>
                </a:solidFill>
              </a:rPr>
              <a:t>• Two validated deployment targets — choose by ops model: AWS Managed Flink (explicit control, custom metrics) vs Confluent Cloud (serverless SQL, ~25% cheaper at sustained high volume)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0B0B0B"/>
                </a:solidFill>
              </a:rPr>
              <a:t>• Volume proven on both clouds: 110k msgs/sec live on AWS; 232k msgs/sec processing on Confluent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0B0B0B"/>
                </a:solidFill>
              </a:rPr>
              <a:t>• Team walkthrough: live dashboard + 'explain the numbers' script are ready (docs/PERF_RESULTS.md)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0B0B0B"/>
                </a:solidFill>
              </a:rPr>
              <a:t>• Candidate hardening for production: schema registry, DLQ for malformed records, autoscaling policy, CI pipeline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0B0B0B"/>
                </a:solidFill>
              </a:rPr>
              <a:t>• Adopt the delivery pattern (phased outcomes + self-verification) for the next AI-assisted build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7607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52514E"/>
                </a:solidFill>
              </a:rPr>
              <a:t>Repo: github.com/jimzucker/flink-fable5  ·  All results reproducible: make test · make validate · perf scripts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